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55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84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8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6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1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7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2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7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43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6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47E69-C4FD-4F3A-A0D4-C7B94DFCF2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4F255-3086-4B55-BA22-3E9E45AA2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93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663" y="-25404"/>
            <a:ext cx="11976674" cy="500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654" b="1" dirty="0"/>
              <a:t>CAN Message and Signal Extraction Using DBC</a:t>
            </a:r>
            <a:endParaRPr lang="en-IN" sz="2654" b="1" dirty="0"/>
          </a:p>
        </p:txBody>
      </p:sp>
      <p:sp>
        <p:nvSpPr>
          <p:cNvPr id="5" name="Rectangle 4"/>
          <p:cNvSpPr/>
          <p:nvPr/>
        </p:nvSpPr>
        <p:spPr>
          <a:xfrm>
            <a:off x="174973" y="496475"/>
            <a:ext cx="4905501" cy="63348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70834" indent="-270834">
              <a:buFont typeface="Wingdings" panose="05000000000000000000" pitchFamily="2" charset="2"/>
              <a:buChar char="q"/>
            </a:pPr>
            <a:r>
              <a:rPr lang="en-US" sz="1516" b="1" dirty="0">
                <a:solidFill>
                  <a:srgbClr val="C00000"/>
                </a:solidFill>
              </a:rPr>
              <a:t>CAN Basics 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b="1" dirty="0"/>
              <a:t>CAN (Controller Area Network)</a:t>
            </a:r>
            <a:r>
              <a:rPr lang="en-US" sz="1327" dirty="0"/>
              <a:t> is a message-based protocol used for ECU communication in vehicles.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dirty="0"/>
              <a:t>Communication happens using </a:t>
            </a:r>
            <a:r>
              <a:rPr lang="en-US" sz="1327" b="1" dirty="0"/>
              <a:t>CAN frames</a:t>
            </a:r>
            <a:r>
              <a:rPr lang="en-US" sz="1327" dirty="0"/>
              <a:t> identified by </a:t>
            </a:r>
            <a:r>
              <a:rPr lang="en-US" sz="1327" b="1" dirty="0"/>
              <a:t>CAN ID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dirty="0"/>
              <a:t>Actual vehicle signals are </a:t>
            </a:r>
            <a:r>
              <a:rPr lang="en-US" sz="1327" b="1" dirty="0"/>
              <a:t>packed as bits inside CAN data</a:t>
            </a:r>
            <a:r>
              <a:rPr lang="en-US" sz="1327" dirty="0"/>
              <a:t>.</a:t>
            </a:r>
            <a:endParaRPr lang="en-US" sz="758" dirty="0"/>
          </a:p>
          <a:p>
            <a:endParaRPr lang="en-US" sz="758" dirty="0"/>
          </a:p>
          <a:p>
            <a:pPr marL="270834" indent="-270834">
              <a:buFont typeface="Wingdings" panose="05000000000000000000" pitchFamily="2" charset="2"/>
              <a:buChar char="q"/>
            </a:pPr>
            <a:r>
              <a:rPr lang="en-US" sz="1516" b="1" dirty="0">
                <a:solidFill>
                  <a:srgbClr val="C00000"/>
                </a:solidFill>
              </a:rPr>
              <a:t>Standard </a:t>
            </a:r>
            <a:r>
              <a:rPr lang="en-US" sz="1516" b="1" dirty="0">
                <a:solidFill>
                  <a:srgbClr val="C00000"/>
                </a:solidFill>
              </a:rPr>
              <a:t>CAN frame:</a:t>
            </a:r>
          </a:p>
          <a:p>
            <a:endParaRPr lang="en-US" sz="1706" dirty="0"/>
          </a:p>
          <a:p>
            <a:endParaRPr lang="en-US" sz="1706" dirty="0"/>
          </a:p>
          <a:p>
            <a:endParaRPr lang="en-US" sz="1706" dirty="0"/>
          </a:p>
          <a:p>
            <a:pPr marL="270834" indent="-270834">
              <a:buFont typeface="Wingdings" panose="05000000000000000000" pitchFamily="2" charset="2"/>
              <a:buChar char="q"/>
            </a:pPr>
            <a:r>
              <a:rPr lang="en-US" sz="1516" b="1" dirty="0">
                <a:solidFill>
                  <a:srgbClr val="C00000"/>
                </a:solidFill>
              </a:rPr>
              <a:t>DLC </a:t>
            </a:r>
            <a:r>
              <a:rPr lang="en-US" sz="1516" b="1" dirty="0">
                <a:solidFill>
                  <a:srgbClr val="C00000"/>
                </a:solidFill>
              </a:rPr>
              <a:t>vs Data Length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b="1" dirty="0"/>
              <a:t>DLC</a:t>
            </a:r>
            <a:r>
              <a:rPr lang="en-US" sz="1327" dirty="0"/>
              <a:t> = number of bytes sent in CAN frame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b="1" dirty="0"/>
              <a:t>Data length</a:t>
            </a:r>
            <a:r>
              <a:rPr lang="en-US" sz="1327" dirty="0"/>
              <a:t> = actual bytes used by signals Padding</a:t>
            </a:r>
          </a:p>
          <a:p>
            <a:r>
              <a:rPr lang="en-US" sz="1327" dirty="0"/>
              <a:t> </a:t>
            </a:r>
            <a:r>
              <a:rPr lang="en-US" sz="1327" dirty="0"/>
              <a:t>        fills the remaining bytes to match DLC</a:t>
            </a:r>
          </a:p>
          <a:p>
            <a:endParaRPr lang="en-US" sz="758" dirty="0"/>
          </a:p>
          <a:p>
            <a:pPr marL="270834" indent="-270834">
              <a:buFont typeface="Wingdings" panose="05000000000000000000" pitchFamily="2" charset="2"/>
              <a:buChar char="q"/>
            </a:pPr>
            <a:r>
              <a:rPr lang="en-IN" sz="1516" b="1" dirty="0">
                <a:solidFill>
                  <a:srgbClr val="C00000"/>
                </a:solidFill>
              </a:rPr>
              <a:t>Signals in CAN </a:t>
            </a:r>
            <a:r>
              <a:rPr lang="en-IN" sz="1516" b="1" dirty="0">
                <a:solidFill>
                  <a:srgbClr val="C00000"/>
                </a:solidFill>
              </a:rPr>
              <a:t>Data</a:t>
            </a:r>
            <a:endParaRPr lang="en-US" sz="1516" b="1" dirty="0">
              <a:solidFill>
                <a:srgbClr val="C00000"/>
              </a:solidFill>
            </a:endParaRPr>
          </a:p>
          <a:p>
            <a:pPr marL="270834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dirty="0">
                <a:latin typeface="Arial" panose="020B0604020202020204" pitchFamily="34" charset="0"/>
              </a:rPr>
              <a:t>CAN data contains multiple </a:t>
            </a:r>
            <a:r>
              <a:rPr lang="en-US" altLang="en-US" sz="1327" b="1" dirty="0">
                <a:latin typeface="Arial" panose="020B0604020202020204" pitchFamily="34" charset="0"/>
              </a:rPr>
              <a:t>signals</a:t>
            </a:r>
            <a:endParaRPr lang="en-US" altLang="en-US" sz="1327" dirty="0">
              <a:latin typeface="Arial" panose="020B0604020202020204" pitchFamily="34" charset="0"/>
            </a:endParaRPr>
          </a:p>
          <a:p>
            <a:pPr marL="270834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b="1" dirty="0">
                <a:latin typeface="Arial" panose="020B0604020202020204" pitchFamily="34" charset="0"/>
              </a:rPr>
              <a:t>Signal</a:t>
            </a:r>
            <a:r>
              <a:rPr lang="en-US" altLang="en-US" sz="1327" dirty="0">
                <a:latin typeface="Arial" panose="020B0604020202020204" pitchFamily="34" charset="0"/>
              </a:rPr>
              <a:t> = a specific set of bits representing physical values</a:t>
            </a:r>
          </a:p>
          <a:p>
            <a:pPr marL="270834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dirty="0">
                <a:latin typeface="Arial" panose="020B0604020202020204" pitchFamily="34" charset="0"/>
              </a:rPr>
              <a:t>Signals have:</a:t>
            </a:r>
          </a:p>
          <a:p>
            <a:pPr marL="722844" lvl="1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327" dirty="0">
                <a:latin typeface="Arial" panose="020B0604020202020204" pitchFamily="34" charset="0"/>
              </a:rPr>
              <a:t>Start bit</a:t>
            </a:r>
          </a:p>
          <a:p>
            <a:pPr marL="722844" lvl="1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327" dirty="0">
                <a:latin typeface="Arial" panose="020B0604020202020204" pitchFamily="34" charset="0"/>
              </a:rPr>
              <a:t>Bit length</a:t>
            </a:r>
          </a:p>
          <a:p>
            <a:pPr marL="722844" lvl="1" indent="-270834" defTabSz="86666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327" dirty="0">
                <a:latin typeface="Arial" panose="020B0604020202020204" pitchFamily="34" charset="0"/>
              </a:rPr>
              <a:t>Endianness (Little/Big)</a:t>
            </a:r>
          </a:p>
          <a:p>
            <a:pPr marL="722844" lvl="1" indent="-270834">
              <a:buFont typeface="Wingdings" panose="05000000000000000000" pitchFamily="2" charset="2"/>
              <a:buChar char="Ø"/>
            </a:pPr>
            <a:r>
              <a:rPr lang="en-US" altLang="en-US" sz="1327" dirty="0">
                <a:latin typeface="Arial" panose="020B0604020202020204" pitchFamily="34" charset="0"/>
              </a:rPr>
              <a:t>Scaling factor &amp; offset</a:t>
            </a: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  <a:p>
            <a:pPr marL="722844" lvl="1" indent="-270834">
              <a:buFont typeface="Wingdings" panose="05000000000000000000" pitchFamily="2" charset="2"/>
              <a:buChar char="Ø"/>
            </a:pPr>
            <a:endParaRPr lang="en-US" altLang="en-US" sz="1327" dirty="0">
              <a:latin typeface="Arial" panose="020B0604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80162" y="2014974"/>
            <a:ext cx="3122450" cy="618586"/>
            <a:chOff x="157655" y="4040977"/>
            <a:chExt cx="4573160" cy="951188"/>
          </a:xfrm>
        </p:grpSpPr>
        <p:sp>
          <p:nvSpPr>
            <p:cNvPr id="13" name="Rectangle 12"/>
            <p:cNvSpPr/>
            <p:nvPr/>
          </p:nvSpPr>
          <p:spPr>
            <a:xfrm>
              <a:off x="3116317" y="4040977"/>
              <a:ext cx="1614498" cy="95118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33334" lvl="1"/>
              <a:endParaRPr lang="en-US" sz="1706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7655" y="4040978"/>
              <a:ext cx="1481958" cy="95118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33334" lvl="1"/>
              <a:endParaRPr lang="en-US" sz="1706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39613" y="4040977"/>
              <a:ext cx="1476704" cy="95118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33334" lvl="1"/>
              <a:endParaRPr lang="en-US" sz="1706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110910" y="2076982"/>
            <a:ext cx="1869556" cy="50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3334" lvl="1"/>
            <a:r>
              <a:rPr lang="en-US" sz="1327" b="1" dirty="0"/>
              <a:t>Data</a:t>
            </a:r>
            <a:r>
              <a:rPr lang="en-US" sz="1327" dirty="0"/>
              <a:t> (up to 8 bytes = 64 bits</a:t>
            </a:r>
            <a:r>
              <a:rPr lang="en-US" sz="1137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6672" y="2045353"/>
            <a:ext cx="1643654" cy="50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3334" lvl="1"/>
            <a:r>
              <a:rPr lang="en-US" sz="1327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DLC </a:t>
            </a:r>
          </a:p>
          <a:p>
            <a:pPr marL="433334" lvl="1"/>
            <a:r>
              <a:rPr lang="en-US" sz="1327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(0–8 bytes</a:t>
            </a:r>
            <a:r>
              <a:rPr lang="en-US" sz="1137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772" y="2045354"/>
            <a:ext cx="1037799" cy="705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327" b="1" dirty="0"/>
              <a:t>CAN ID</a:t>
            </a:r>
          </a:p>
          <a:p>
            <a:pPr marL="0" lvl="1"/>
            <a:r>
              <a:rPr lang="en-US" sz="1327" dirty="0"/>
              <a:t> (11-bit)</a:t>
            </a:r>
          </a:p>
          <a:p>
            <a:endParaRPr lang="en-IN" sz="1327" dirty="0"/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5069279" y="3886399"/>
            <a:ext cx="2422687" cy="258197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665" tIns="43333" rIns="86665" bIns="43333" numCol="1" anchor="ctr" anchorCtr="0" compatLnSpc="1">
            <a:prstTxWarp prst="textNoShape">
              <a:avLst/>
            </a:prstTxWarp>
            <a:spAutoFit/>
          </a:bodyPr>
          <a:lstStyle/>
          <a:p>
            <a:pPr marL="270834" indent="-2708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516" b="1" dirty="0">
                <a:solidFill>
                  <a:srgbClr val="C00000"/>
                </a:solidFill>
              </a:rPr>
              <a:t>Tool &amp; DBC Used</a:t>
            </a:r>
          </a:p>
          <a:p>
            <a:pPr marL="270834" indent="-270834" defTabSz="86666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b="1" dirty="0">
                <a:latin typeface="Arial" panose="020B0604020202020204" pitchFamily="34" charset="0"/>
              </a:rPr>
              <a:t>Tool:</a:t>
            </a:r>
            <a:r>
              <a:rPr lang="en-US" altLang="en-US" sz="1327" dirty="0">
                <a:latin typeface="Arial" panose="020B0604020202020204" pitchFamily="34" charset="0"/>
              </a:rPr>
              <a:t> Vector CANdb++</a:t>
            </a:r>
          </a:p>
          <a:p>
            <a:pPr marL="270834" indent="-270834" defTabSz="86666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b="1" dirty="0">
                <a:latin typeface="Arial" panose="020B0604020202020204" pitchFamily="34" charset="0"/>
              </a:rPr>
              <a:t>DBC File:</a:t>
            </a:r>
            <a:r>
              <a:rPr lang="en-US" altLang="en-US" sz="1327" dirty="0">
                <a:latin typeface="Arial" panose="020B0604020202020204" pitchFamily="34" charset="0"/>
              </a:rPr>
              <a:t> </a:t>
            </a:r>
            <a:r>
              <a:rPr lang="en-US" altLang="en-US" sz="1327" dirty="0">
                <a:latin typeface="Arial Unicode MS"/>
              </a:rPr>
              <a:t>opel_omega_2001.dbc</a:t>
            </a:r>
            <a:endParaRPr lang="en-US" altLang="en-US" sz="1327" dirty="0"/>
          </a:p>
          <a:p>
            <a:pPr marL="270834" indent="-270834" defTabSz="86666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b="1" dirty="0">
                <a:latin typeface="Arial" panose="020B0604020202020204" pitchFamily="34" charset="0"/>
              </a:rPr>
              <a:t>CAN Type:</a:t>
            </a:r>
            <a:r>
              <a:rPr lang="en-US" altLang="en-US" sz="1327" dirty="0">
                <a:latin typeface="Arial" panose="020B0604020202020204" pitchFamily="34" charset="0"/>
              </a:rPr>
              <a:t> Classical CAN (8-byte messages)</a:t>
            </a:r>
          </a:p>
          <a:p>
            <a:pPr marL="270834" indent="-270834" defTabSz="86666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27" b="1" dirty="0">
                <a:latin typeface="Arial" panose="020B0604020202020204" pitchFamily="34" charset="0"/>
              </a:rPr>
              <a:t>ECUs:</a:t>
            </a:r>
            <a:r>
              <a:rPr lang="en-US" altLang="en-US" sz="1327" dirty="0">
                <a:latin typeface="Arial" panose="020B0604020202020204" pitchFamily="34" charset="0"/>
              </a:rPr>
              <a:t> ABS, ESP, ECU, TCU, 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8081" y="2030229"/>
            <a:ext cx="4374076" cy="483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70834" indent="-2708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1516" b="1" dirty="0">
                <a:solidFill>
                  <a:srgbClr val="C00000"/>
                </a:solidFill>
              </a:rPr>
              <a:t>Example from DBC File</a:t>
            </a:r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27" b="1" dirty="0">
                <a:solidFill>
                  <a:srgbClr val="002060"/>
                </a:solidFill>
              </a:rPr>
              <a:t>Message Name:</a:t>
            </a:r>
            <a:r>
              <a:rPr lang="en-IN" sz="1327" dirty="0">
                <a:solidFill>
                  <a:srgbClr val="002060"/>
                </a:solidFill>
              </a:rPr>
              <a:t> </a:t>
            </a:r>
            <a:r>
              <a:rPr lang="en-IN" sz="1327" dirty="0"/>
              <a:t>ABS WheelSpeed</a:t>
            </a:r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27" b="1" dirty="0"/>
              <a:t>CAN ID:</a:t>
            </a:r>
            <a:r>
              <a:rPr lang="en-US" sz="1327" dirty="0"/>
              <a:t> 768 (0x300)</a:t>
            </a:r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27" b="1" dirty="0"/>
              <a:t>DLC:</a:t>
            </a:r>
            <a:r>
              <a:rPr lang="en-US" sz="1327" dirty="0"/>
              <a:t> 8 bytes</a:t>
            </a:r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27" b="1" dirty="0"/>
              <a:t>Transmitter:</a:t>
            </a:r>
            <a:r>
              <a:rPr lang="en-US" sz="1327" dirty="0"/>
              <a:t> ABS EC</a:t>
            </a:r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27" b="1" dirty="0">
                <a:solidFill>
                  <a:srgbClr val="002060"/>
                </a:solidFill>
              </a:rPr>
              <a:t>Signal Name</a:t>
            </a:r>
            <a:r>
              <a:rPr lang="en-IN" sz="1327" b="1" dirty="0"/>
              <a:t>:</a:t>
            </a:r>
            <a:r>
              <a:rPr lang="en-IN" sz="1327" dirty="0"/>
              <a:t> FrontLeftWheelSpeed</a:t>
            </a:r>
            <a:endParaRPr lang="en-US" sz="1327" dirty="0"/>
          </a:p>
          <a:p>
            <a:pPr marL="270834" indent="-27083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27" b="1" dirty="0"/>
              <a:t>Signal Definition (DBC line)</a:t>
            </a:r>
          </a:p>
          <a:p>
            <a:pPr>
              <a:lnSpc>
                <a:spcPct val="150000"/>
              </a:lnSpc>
            </a:pPr>
            <a:r>
              <a:rPr lang="en-IN" sz="1327" u="sng" dirty="0">
                <a:solidFill>
                  <a:srgbClr val="0070C0"/>
                </a:solidFill>
              </a:rPr>
              <a:t> </a:t>
            </a:r>
            <a:r>
              <a:rPr lang="en-IN" sz="1327" dirty="0">
                <a:solidFill>
                  <a:srgbClr val="0070C0"/>
                </a:solidFill>
              </a:rPr>
              <a:t>       </a:t>
            </a:r>
            <a:r>
              <a:rPr lang="en-IN" sz="1327" u="sng" dirty="0">
                <a:solidFill>
                  <a:srgbClr val="0070C0"/>
                </a:solidFill>
              </a:rPr>
              <a:t>SG_ FrontLeftWheelSpeed : 5|14@0+ (0.112,0) "km/h“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Start Bit:</a:t>
            </a:r>
            <a:r>
              <a:rPr lang="en-IN" sz="1327" dirty="0"/>
              <a:t> 5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Length:</a:t>
            </a:r>
            <a:r>
              <a:rPr lang="en-IN" sz="1327" dirty="0"/>
              <a:t> 14 bits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Endianness:</a:t>
            </a:r>
            <a:r>
              <a:rPr lang="en-IN" sz="1327" dirty="0"/>
              <a:t> @0 → Big Endian (Motorola format)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Data Type:</a:t>
            </a:r>
            <a:r>
              <a:rPr lang="en-IN" sz="1327" dirty="0"/>
              <a:t> Unsigned (+)</a:t>
            </a:r>
          </a:p>
          <a:p>
            <a:pPr marL="777011" lvl="1" indent="-325001">
              <a:buFont typeface="Wingdings" panose="05000000000000000000" pitchFamily="2" charset="2"/>
              <a:buChar char="Ø"/>
            </a:pPr>
            <a:r>
              <a:rPr lang="en-IN" sz="1327" b="1" dirty="0"/>
              <a:t>Factor (Scaling):</a:t>
            </a:r>
            <a:r>
              <a:rPr lang="en-IN" sz="1327" dirty="0"/>
              <a:t> 0.112</a:t>
            </a:r>
          </a:p>
          <a:p>
            <a:pPr lvl="1"/>
            <a:r>
              <a:rPr lang="en-IN" sz="1327" dirty="0">
                <a:solidFill>
                  <a:srgbClr val="0070C0"/>
                </a:solidFill>
              </a:rPr>
              <a:t>         </a:t>
            </a:r>
            <a:r>
              <a:rPr lang="en-US" sz="1327" dirty="0">
                <a:solidFill>
                  <a:srgbClr val="0070C0"/>
                </a:solidFill>
              </a:rPr>
              <a:t> </a:t>
            </a:r>
            <a:r>
              <a:rPr lang="en-US" sz="1327" dirty="0"/>
              <a:t>(Raw value × 0.112 = physical value)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Offset:</a:t>
            </a:r>
            <a:r>
              <a:rPr lang="en-IN" sz="1327" dirty="0"/>
              <a:t> 0</a:t>
            </a:r>
          </a:p>
          <a:p>
            <a:pPr marL="777011" lvl="1" indent="-32500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27" b="1" dirty="0"/>
              <a:t>Unit:</a:t>
            </a:r>
            <a:r>
              <a:rPr lang="en-IN" sz="1327" dirty="0"/>
              <a:t> km/h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663" y="5314636"/>
            <a:ext cx="5488807" cy="1550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834" indent="-270834">
              <a:buFont typeface="Wingdings" panose="05000000000000000000" pitchFamily="2" charset="2"/>
              <a:buChar char="q"/>
            </a:pPr>
            <a:r>
              <a:rPr lang="en-IN" sz="1516" b="1" dirty="0">
                <a:solidFill>
                  <a:srgbClr val="C00000"/>
                </a:solidFill>
              </a:rPr>
              <a:t>DBC File &amp; Its Need</a:t>
            </a:r>
            <a:endParaRPr lang="en-IN" sz="1327" dirty="0"/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US" sz="1327" dirty="0"/>
              <a:t>DBC (Database CAN) is a </a:t>
            </a:r>
            <a:r>
              <a:rPr lang="en-US" sz="1327" b="1" dirty="0"/>
              <a:t>definition file</a:t>
            </a:r>
            <a:r>
              <a:rPr lang="en-US" sz="1327" dirty="0"/>
              <a:t> for CAN communication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IN" sz="1327" dirty="0"/>
              <a:t>It Contains:</a:t>
            </a:r>
          </a:p>
          <a:p>
            <a:pPr marL="704168" lvl="1" indent="-270834">
              <a:buFont typeface="Wingdings" panose="05000000000000000000" pitchFamily="2" charset="2"/>
              <a:buChar char="Ø"/>
            </a:pPr>
            <a:r>
              <a:rPr lang="en-IN" sz="1327" dirty="0"/>
              <a:t>Message ID &amp; name</a:t>
            </a:r>
          </a:p>
          <a:p>
            <a:pPr marL="704168" lvl="1" indent="-270834">
              <a:buFont typeface="Wingdings" panose="05000000000000000000" pitchFamily="2" charset="2"/>
              <a:buChar char="Ø"/>
            </a:pPr>
            <a:r>
              <a:rPr lang="en-IN" sz="1327" dirty="0"/>
              <a:t>DLC</a:t>
            </a:r>
          </a:p>
          <a:p>
            <a:pPr marL="704168" lvl="1" indent="-270834">
              <a:buFont typeface="Wingdings" panose="05000000000000000000" pitchFamily="2" charset="2"/>
              <a:buChar char="Ø"/>
            </a:pPr>
            <a:r>
              <a:rPr lang="en-IN" sz="1327" dirty="0"/>
              <a:t>Signal names, start bit, length, scaling, units</a:t>
            </a:r>
          </a:p>
          <a:p>
            <a:pPr marL="270834" indent="-270834">
              <a:buFont typeface="Arial" panose="020B0604020202020204" pitchFamily="34" charset="0"/>
              <a:buChar char="•"/>
            </a:pPr>
            <a:r>
              <a:rPr lang="en-IN" sz="1327" dirty="0"/>
              <a:t>Used by software/tools to </a:t>
            </a:r>
            <a:r>
              <a:rPr lang="en-IN" sz="1327" b="1" dirty="0"/>
              <a:t>decode CAN messages automatically</a:t>
            </a:r>
            <a:endParaRPr lang="en-IN" sz="1327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5259439" y="557399"/>
          <a:ext cx="6668256" cy="13866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22752">
                  <a:extLst>
                    <a:ext uri="{9D8B030D-6E8A-4147-A177-3AD203B41FA5}">
                      <a16:colId xmlns:a16="http://schemas.microsoft.com/office/drawing/2014/main" val="2524773470"/>
                    </a:ext>
                  </a:extLst>
                </a:gridCol>
                <a:gridCol w="2222752">
                  <a:extLst>
                    <a:ext uri="{9D8B030D-6E8A-4147-A177-3AD203B41FA5}">
                      <a16:colId xmlns:a16="http://schemas.microsoft.com/office/drawing/2014/main" val="3481951261"/>
                    </a:ext>
                  </a:extLst>
                </a:gridCol>
                <a:gridCol w="2222752">
                  <a:extLst>
                    <a:ext uri="{9D8B030D-6E8A-4147-A177-3AD203B41FA5}">
                      <a16:colId xmlns:a16="http://schemas.microsoft.com/office/drawing/2014/main" val="3141706463"/>
                    </a:ext>
                  </a:extLst>
                </a:gridCol>
              </a:tblGrid>
              <a:tr h="346662">
                <a:tc>
                  <a:txBody>
                    <a:bodyPr/>
                    <a:lstStyle/>
                    <a:p>
                      <a:r>
                        <a:rPr lang="en-IN" sz="1700" dirty="0"/>
                        <a:t>Parameter</a:t>
                      </a:r>
                    </a:p>
                  </a:txBody>
                  <a:tcPr marL="86665" marR="86665" marT="43333" marB="43333" anchor="ctr"/>
                </a:tc>
                <a:tc>
                  <a:txBody>
                    <a:bodyPr/>
                    <a:lstStyle/>
                    <a:p>
                      <a:r>
                        <a:rPr lang="en-IN" sz="1700" dirty="0" smtClean="0"/>
                        <a:t>Standard CAN</a:t>
                      </a:r>
                      <a:endParaRPr lang="en-IN" sz="1700" dirty="0"/>
                    </a:p>
                  </a:txBody>
                  <a:tcPr marL="86665" marR="86665" marT="43333" marB="43333"/>
                </a:tc>
                <a:tc>
                  <a:txBody>
                    <a:bodyPr/>
                    <a:lstStyle/>
                    <a:p>
                      <a:r>
                        <a:rPr lang="en-IN" sz="1700" dirty="0" smtClean="0"/>
                        <a:t>Extended CAN</a:t>
                      </a:r>
                      <a:endParaRPr lang="en-IN" sz="1700" dirty="0"/>
                    </a:p>
                  </a:txBody>
                  <a:tcPr marL="86665" marR="86665" marT="43333" marB="43333"/>
                </a:tc>
                <a:extLst>
                  <a:ext uri="{0D108BD9-81ED-4DB2-BD59-A6C34878D82A}">
                    <a16:rowId xmlns:a16="http://schemas.microsoft.com/office/drawing/2014/main" val="3387076205"/>
                  </a:ext>
                </a:extLst>
              </a:tr>
              <a:tr h="346662">
                <a:tc>
                  <a:txBody>
                    <a:bodyPr/>
                    <a:lstStyle/>
                    <a:p>
                      <a:r>
                        <a:rPr lang="en-IN" sz="1700" dirty="0"/>
                        <a:t>ID Length</a:t>
                      </a:r>
                    </a:p>
                  </a:txBody>
                  <a:tcPr marL="86665" marR="86665" marT="43333" marB="43333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11 bits</a:t>
                      </a:r>
                    </a:p>
                  </a:txBody>
                  <a:tcPr marL="86665" marR="86665" marT="43333" marB="43333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29 bits</a:t>
                      </a:r>
                    </a:p>
                  </a:txBody>
                  <a:tcPr marL="86665" marR="86665" marT="43333" marB="43333" anchor="ctr"/>
                </a:tc>
                <a:extLst>
                  <a:ext uri="{0D108BD9-81ED-4DB2-BD59-A6C34878D82A}">
                    <a16:rowId xmlns:a16="http://schemas.microsoft.com/office/drawing/2014/main" val="568862084"/>
                  </a:ext>
                </a:extLst>
              </a:tr>
              <a:tr h="346662">
                <a:tc>
                  <a:txBody>
                    <a:bodyPr/>
                    <a:lstStyle/>
                    <a:p>
                      <a:r>
                        <a:rPr lang="en-IN" sz="1700" dirty="0"/>
                        <a:t>Message Count</a:t>
                      </a:r>
                    </a:p>
                  </a:txBody>
                  <a:tcPr marL="86665" marR="86665" marT="43333" marB="43333" anchor="ctr"/>
                </a:tc>
                <a:tc>
                  <a:txBody>
                    <a:bodyPr/>
                    <a:lstStyle/>
                    <a:p>
                      <a:r>
                        <a:rPr lang="en-IN" sz="1700" dirty="0" smtClean="0"/>
                        <a:t>Limited</a:t>
                      </a:r>
                      <a:endParaRPr lang="en-IN" sz="1700" dirty="0"/>
                    </a:p>
                  </a:txBody>
                  <a:tcPr marL="86665" marR="86665" marT="43333" marB="43333" anchor="ctr"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Very</a:t>
                      </a:r>
                      <a:r>
                        <a:rPr lang="en-US" sz="1700" baseline="0" dirty="0" smtClean="0"/>
                        <a:t> Large</a:t>
                      </a:r>
                      <a:endParaRPr lang="en-IN" sz="1700" dirty="0"/>
                    </a:p>
                  </a:txBody>
                  <a:tcPr marL="86665" marR="86665" marT="43333" marB="43333" anchor="ctr"/>
                </a:tc>
                <a:extLst>
                  <a:ext uri="{0D108BD9-81ED-4DB2-BD59-A6C34878D82A}">
                    <a16:rowId xmlns:a16="http://schemas.microsoft.com/office/drawing/2014/main" val="3526446119"/>
                  </a:ext>
                </a:extLst>
              </a:tr>
              <a:tr h="346662"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Network Size</a:t>
                      </a:r>
                      <a:endParaRPr lang="en-IN" sz="1700" dirty="0"/>
                    </a:p>
                  </a:txBody>
                  <a:tcPr marL="86665" marR="86665" marT="43333" marB="43333"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Small</a:t>
                      </a:r>
                      <a:endParaRPr lang="en-IN" sz="1700" dirty="0"/>
                    </a:p>
                  </a:txBody>
                  <a:tcPr marL="86665" marR="86665" marT="43333" marB="43333"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Large</a:t>
                      </a:r>
                      <a:endParaRPr lang="en-IN" sz="1700" dirty="0"/>
                    </a:p>
                  </a:txBody>
                  <a:tcPr marL="86665" marR="86665" marT="43333" marB="43333"/>
                </a:tc>
                <a:extLst>
                  <a:ext uri="{0D108BD9-81ED-4DB2-BD59-A6C34878D82A}">
                    <a16:rowId xmlns:a16="http://schemas.microsoft.com/office/drawing/2014/main" val="2329717851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4117095" y="2202924"/>
            <a:ext cx="2965090" cy="144873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70834" indent="-270834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16" b="1" dirty="0">
                <a:solidFill>
                  <a:srgbClr val="C00000"/>
                </a:solidFill>
              </a:rPr>
              <a:t>Bit Extraction: </a:t>
            </a:r>
            <a:endParaRPr lang="en-US" sz="1516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327" dirty="0"/>
              <a:t>Selecting specific bits from CAN data using DBC-defined start bit and length to obtain the raw signal value</a:t>
            </a:r>
            <a:r>
              <a:rPr lang="en-US" sz="1706" dirty="0"/>
              <a:t>.</a:t>
            </a:r>
            <a:endParaRPr lang="en-IN" sz="1706" dirty="0"/>
          </a:p>
        </p:txBody>
      </p:sp>
    </p:spTree>
    <p:extLst>
      <p:ext uri="{BB962C8B-B14F-4D97-AF65-F5344CB8AC3E}">
        <p14:creationId xmlns:p14="http://schemas.microsoft.com/office/powerpoint/2010/main" val="383451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2026-01-18T05:08:45Z</dcterms:created>
  <dcterms:modified xsi:type="dcterms:W3CDTF">2026-01-18T05:09:28Z</dcterms:modified>
</cp:coreProperties>
</file>