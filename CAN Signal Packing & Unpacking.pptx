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9" r:id="rId3"/>
  </p:sldIdLst>
  <p:sldSz cx="18000663" cy="10799763"/>
  <p:notesSz cx="6858000" cy="9144000"/>
  <p:defaultTextStyle>
    <a:defPPr>
      <a:defRPr lang="en-US"/>
    </a:defPPr>
    <a:lvl1pPr marL="0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1pPr>
    <a:lvl2pPr marL="604784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2pPr>
    <a:lvl3pPr marL="1209568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3pPr>
    <a:lvl4pPr marL="1814352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4pPr>
    <a:lvl5pPr marL="2419137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5pPr>
    <a:lvl6pPr marL="3023921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6pPr>
    <a:lvl7pPr marL="3628705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7pPr>
    <a:lvl8pPr marL="4233489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8pPr>
    <a:lvl9pPr marL="4838273" algn="l" defTabSz="1209568" rtl="0" eaLnBrk="1" latinLnBrk="0" hangingPunct="1">
      <a:defRPr sz="238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44" d="100"/>
          <a:sy n="44" d="100"/>
        </p:scale>
        <p:origin x="7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3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7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7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89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833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03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98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09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76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42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91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C107F-BBE0-42D2-8AD7-3343266B7429}" type="datetimeFigureOut">
              <a:rPr lang="en-IN" smtClean="0"/>
              <a:t>28-12-2025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6A881-9A40-4D23-B515-92FA85824F7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702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1"/>
            <a:ext cx="18000662" cy="729267"/>
          </a:xfrm>
          <a:solidFill>
            <a:srgbClr val="92D05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IN" sz="4400" b="1" dirty="0">
                <a:latin typeface="Bahnschrift" panose="020B0502040204020203" pitchFamily="34" charset="0"/>
              </a:rPr>
              <a:t>CAN Signal Packing &amp; Unpacking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63176852"/>
              </p:ext>
            </p:extLst>
          </p:nvPr>
        </p:nvGraphicFramePr>
        <p:xfrm>
          <a:off x="299800" y="729266"/>
          <a:ext cx="17700862" cy="1398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14416">
                  <a:extLst>
                    <a:ext uri="{9D8B030D-6E8A-4147-A177-3AD203B41FA5}">
                      <a16:colId xmlns:a16="http://schemas.microsoft.com/office/drawing/2014/main" val="2858227493"/>
                    </a:ext>
                  </a:extLst>
                </a:gridCol>
                <a:gridCol w="9186446">
                  <a:extLst>
                    <a:ext uri="{9D8B030D-6E8A-4147-A177-3AD203B41FA5}">
                      <a16:colId xmlns:a16="http://schemas.microsoft.com/office/drawing/2014/main" val="2367302557"/>
                    </a:ext>
                  </a:extLst>
                </a:gridCol>
              </a:tblGrid>
              <a:tr h="496507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CAN bus transmits </a:t>
                      </a:r>
                      <a:r>
                        <a:rPr lang="en-US" b="1" dirty="0" smtClean="0"/>
                        <a:t>data in bytes (8 bits)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/>
                        <a:t>Packing:</a:t>
                      </a:r>
                      <a:r>
                        <a:rPr lang="en-US" dirty="0" smtClean="0"/>
                        <a:t> putting signal values into CAN bytes for transmission.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54921"/>
                  </a:ext>
                </a:extLst>
              </a:tr>
              <a:tr h="901574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Signals (like speed, gear) may be </a:t>
                      </a:r>
                      <a:r>
                        <a:rPr lang="en-US" b="1" dirty="0" smtClean="0"/>
                        <a:t>smaller than a byte</a:t>
                      </a:r>
                      <a:r>
                        <a:rPr lang="en-US" dirty="0" smtClean="0"/>
                        <a:t> or </a:t>
                      </a:r>
                      <a:r>
                        <a:rPr lang="en-US" b="1" dirty="0" smtClean="0"/>
                        <a:t>combined in one byte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/>
                        <a:t>Unpacking:</a:t>
                      </a:r>
                      <a:r>
                        <a:rPr lang="en-US" dirty="0" smtClean="0"/>
                        <a:t> extracting signal values from received CAN bytes.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100166"/>
                  </a:ext>
                </a:extLst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46605" y="2127347"/>
            <a:ext cx="9054058" cy="8672416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 defTabSz="1209568">
              <a:buNone/>
            </a:pPr>
            <a:endParaRPr lang="en-IN" sz="8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457200" indent="-457200" defTabSz="1209568">
              <a:buFont typeface="Wingdings" panose="05000000000000000000" pitchFamily="2" charset="2"/>
              <a:buChar char="q"/>
            </a:pPr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</a:rPr>
              <a:t>Unpacking </a:t>
            </a: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(Receiver </a:t>
            </a:r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</a:rPr>
              <a:t>Side)</a:t>
            </a: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Performed on receiver side after CAN frame is received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Extract original signal values from CAN data bytes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Reverse operation of packing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Uses:</a:t>
            </a:r>
          </a:p>
          <a:p>
            <a:pPr lvl="2"/>
            <a:r>
              <a:rPr lang="en-US" sz="1800" dirty="0">
                <a:latin typeface="Arial" panose="020B0604020202020204" pitchFamily="34" charset="0"/>
              </a:rPr>
              <a:t>Bit shifting</a:t>
            </a:r>
          </a:p>
          <a:p>
            <a:pPr lvl="2"/>
            <a:r>
              <a:rPr lang="en-US" sz="1800" dirty="0">
                <a:latin typeface="Arial" panose="020B0604020202020204" pitchFamily="34" charset="0"/>
              </a:rPr>
              <a:t>Bit masking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Output signals are used </a:t>
            </a:r>
            <a:r>
              <a:rPr lang="en-US" sz="1800" dirty="0" smtClean="0">
                <a:latin typeface="Arial" panose="020B0604020202020204" pitchFamily="34" charset="0"/>
              </a:rPr>
              <a:t>for SOA </a:t>
            </a:r>
            <a:r>
              <a:rPr lang="en-US" sz="1800" dirty="0">
                <a:latin typeface="Arial" panose="020B0604020202020204" pitchFamily="34" charset="0"/>
              </a:rPr>
              <a:t>services</a:t>
            </a:r>
          </a:p>
          <a:p>
            <a:pPr lvl="1"/>
            <a:r>
              <a:rPr lang="en-US" sz="1800" dirty="0" smtClean="0">
                <a:latin typeface="Arial" panose="020B0604020202020204" pitchFamily="34" charset="0"/>
              </a:rPr>
              <a:t>Applications </a:t>
            </a:r>
            <a:r>
              <a:rPr lang="en-US" sz="1800" dirty="0">
                <a:latin typeface="Arial" panose="020B0604020202020204" pitchFamily="34" charset="0"/>
              </a:rPr>
              <a:t>/ debugging / logging</a:t>
            </a:r>
          </a:p>
          <a:p>
            <a:pPr marL="0" indent="0" defTabSz="1209568">
              <a:buNone/>
            </a:pPr>
            <a:r>
              <a:rPr lang="en-IN" sz="2381" b="1" dirty="0"/>
              <a:t> </a:t>
            </a:r>
            <a:r>
              <a:rPr lang="en-IN" sz="2381" b="1" dirty="0" smtClean="0"/>
              <a:t>         Example :</a:t>
            </a:r>
          </a:p>
          <a:p>
            <a:pPr marL="0" indent="0" defTabSz="1209568">
              <a:buNone/>
            </a:pPr>
            <a:r>
              <a:rPr lang="en-US" sz="2381" b="1" dirty="0"/>
              <a:t>	</a:t>
            </a:r>
            <a:r>
              <a:rPr lang="en-US" sz="2381" dirty="0" smtClean="0">
                <a:solidFill>
                  <a:srgbClr val="0070C0"/>
                </a:solidFill>
              </a:rPr>
              <a:t>uint16_t speed;</a:t>
            </a:r>
          </a:p>
          <a:p>
            <a:pPr marL="0" indent="0" defTabSz="1209568">
              <a:buNone/>
            </a:pPr>
            <a:r>
              <a:rPr lang="en-US" sz="2381" dirty="0" smtClean="0">
                <a:solidFill>
                  <a:srgbClr val="0070C0"/>
                </a:solidFill>
              </a:rPr>
              <a:t>	speed = can_data[0] | (can_data[1] &lt;&lt; 8);</a:t>
            </a:r>
            <a:endParaRPr lang="en-US" sz="2381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400" b="1" dirty="0"/>
          </a:p>
          <a:p>
            <a:pPr lvl="1"/>
            <a:r>
              <a:rPr lang="en-US" sz="2381" b="1" dirty="0"/>
              <a:t>Unpacking Steps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Read CAN data bytes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Shift bits to original position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Mask required bits</a:t>
            </a:r>
          </a:p>
          <a:p>
            <a:pPr lvl="1"/>
            <a:r>
              <a:rPr lang="en-US" sz="1800" dirty="0">
                <a:latin typeface="Arial" panose="020B0604020202020204" pitchFamily="34" charset="0"/>
              </a:rPr>
              <a:t>Combine bits to reconstruct signal</a:t>
            </a:r>
          </a:p>
          <a:p>
            <a:pPr marL="0" indent="0" defTabSz="1209568">
              <a:buNone/>
            </a:pPr>
            <a:endParaRPr lang="en-IN" sz="1800" b="1" dirty="0"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" y="2112056"/>
            <a:ext cx="8916625" cy="86877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99800" y="2271839"/>
            <a:ext cx="42979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</a:rPr>
              <a:t>Packing (Sender Side)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820088" y="2880667"/>
            <a:ext cx="7162800" cy="263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37505" marR="0" lvl="0" indent="-337505" defTabSz="1350020" fontAlgn="base">
              <a:lnSpc>
                <a:spcPct val="90000"/>
              </a:lnSpc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Convert signal to binary.</a:t>
            </a:r>
          </a:p>
          <a:p>
            <a:pPr marL="337505" marR="0" lvl="0" indent="-337505" defTabSz="1350020" fontAlgn="base">
              <a:lnSpc>
                <a:spcPct val="90000"/>
              </a:lnSpc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Mask unwanted bits using &amp; (example: &amp; 0xFF for 1 byte).</a:t>
            </a:r>
          </a:p>
          <a:p>
            <a:pPr marL="337505" marR="0" lvl="0" indent="-337505" defTabSz="1350020" fontAlgn="base">
              <a:lnSpc>
                <a:spcPct val="90000"/>
              </a:lnSpc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Shift bits to correct position using &lt;&lt;</a:t>
            </a:r>
          </a:p>
          <a:p>
            <a:pPr marL="337505" marR="0" lvl="0" indent="-337505" defTabSz="1350020" fontAlgn="base">
              <a:lnSpc>
                <a:spcPct val="90000"/>
              </a:lnSpc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Combine multiple signals in one byte using |</a:t>
            </a:r>
          </a:p>
          <a:p>
            <a:pPr marL="337505" marR="0" lvl="0" indent="-337505" defTabSz="1350020" fontAlgn="base">
              <a:lnSpc>
                <a:spcPct val="90000"/>
              </a:lnSpc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Store final value in CAN data array, </a:t>
            </a:r>
            <a:endParaRPr lang="en-US" altLang="en-US" sz="1800" dirty="0" smtClean="0">
              <a:latin typeface="Arial" panose="020B0604020202020204" pitchFamily="34" charset="0"/>
            </a:endParaRPr>
          </a:p>
          <a:p>
            <a:pPr fontAlgn="base">
              <a:lnSpc>
                <a:spcPct val="90000"/>
              </a:lnSpc>
              <a:spcBef>
                <a:spcPts val="1476"/>
              </a:spcBef>
              <a:spcAft>
                <a:spcPct val="0"/>
              </a:spcAft>
            </a:pPr>
            <a:r>
              <a:rPr lang="en-IN" b="1" dirty="0"/>
              <a:t>Example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88" y="5480302"/>
            <a:ext cx="6588580" cy="1191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0070C0"/>
                </a:solidFill>
              </a:rPr>
              <a:t>uint8_t can_data[8];</a:t>
            </a:r>
          </a:p>
          <a:p>
            <a:r>
              <a:rPr lang="en-IN" dirty="0" smtClean="0">
                <a:solidFill>
                  <a:srgbClr val="0070C0"/>
                </a:solidFill>
              </a:rPr>
              <a:t>can_data[0] = speed &amp; 0xFF;            // lower byte</a:t>
            </a:r>
          </a:p>
          <a:p>
            <a:r>
              <a:rPr lang="en-IN" dirty="0" smtClean="0">
                <a:solidFill>
                  <a:srgbClr val="0070C0"/>
                </a:solidFill>
              </a:rPr>
              <a:t>can_data[1] = (speed &gt;&gt; 8) &amp; 0xFF;     // upper byte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0716" y="6767437"/>
            <a:ext cx="3990772" cy="4587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For</a:t>
            </a:r>
            <a:r>
              <a:rPr lang="en-US" dirty="0" smtClean="0"/>
              <a:t> </a:t>
            </a:r>
            <a:r>
              <a:rPr lang="en-US" b="1" dirty="0" smtClean="0"/>
              <a:t>two signals in one byte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1179822" y="7478336"/>
            <a:ext cx="6616940" cy="45871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IN" dirty="0" smtClean="0">
                <a:solidFill>
                  <a:srgbClr val="0070C0"/>
                </a:solidFill>
              </a:rPr>
              <a:t>can_data[2] = ((speed &amp; 0x0F) &lt;&lt; 4) | (gear &amp; 0x0F);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410716" y="7696590"/>
            <a:ext cx="5351145" cy="2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/>
              <a:t>Key points</a:t>
            </a:r>
            <a:r>
              <a:rPr lang="en-US" altLang="en-US" b="1" dirty="0" smtClean="0"/>
              <a:t>:</a:t>
            </a:r>
            <a:endParaRPr lang="en-US" altLang="en-US" sz="1800" dirty="0" smtClean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800" b="1" dirty="0"/>
          </a:p>
          <a:p>
            <a:pPr marL="1012515" marR="0" lvl="1" indent="-337505" defTabSz="1350020" fontAlgn="base">
              <a:lnSpc>
                <a:spcPct val="90000"/>
              </a:lnSpc>
              <a:spcBef>
                <a:spcPts val="738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Mask = keep only relevant bits</a:t>
            </a:r>
          </a:p>
          <a:p>
            <a:pPr marL="1012515" marR="0" lvl="1" indent="-337505" defTabSz="1350020" fontAlgn="base">
              <a:lnSpc>
                <a:spcPct val="90000"/>
              </a:lnSpc>
              <a:spcBef>
                <a:spcPts val="738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Shift = place bits in proper position</a:t>
            </a:r>
          </a:p>
          <a:p>
            <a:pPr marL="1012515" marR="0" lvl="1" indent="-337505" defTabSz="1350020" fontAlgn="base">
              <a:lnSpc>
                <a:spcPct val="90000"/>
              </a:lnSpc>
              <a:spcBef>
                <a:spcPts val="738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Combine = | operator for multiple signals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096447" y="6201079"/>
            <a:ext cx="5428343" cy="127725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95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" y="-1"/>
            <a:ext cx="18000662" cy="729267"/>
          </a:xfrm>
          <a:solidFill>
            <a:srgbClr val="92D05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IN" sz="4400" b="1" dirty="0">
                <a:latin typeface="Bahnschrift" panose="020B0502040204020203" pitchFamily="34" charset="0"/>
              </a:rPr>
              <a:t>CAN Signal Packing &amp; Unpacking</a:t>
            </a:r>
          </a:p>
        </p:txBody>
      </p:sp>
      <p:graphicFrame>
        <p:nvGraphicFramePr>
          <p:cNvPr id="1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536127"/>
              </p:ext>
            </p:extLst>
          </p:nvPr>
        </p:nvGraphicFramePr>
        <p:xfrm>
          <a:off x="299800" y="729266"/>
          <a:ext cx="17700862" cy="1398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14416">
                  <a:extLst>
                    <a:ext uri="{9D8B030D-6E8A-4147-A177-3AD203B41FA5}">
                      <a16:colId xmlns:a16="http://schemas.microsoft.com/office/drawing/2014/main" val="2858227493"/>
                    </a:ext>
                  </a:extLst>
                </a:gridCol>
                <a:gridCol w="9186446">
                  <a:extLst>
                    <a:ext uri="{9D8B030D-6E8A-4147-A177-3AD203B41FA5}">
                      <a16:colId xmlns:a16="http://schemas.microsoft.com/office/drawing/2014/main" val="2367302557"/>
                    </a:ext>
                  </a:extLst>
                </a:gridCol>
              </a:tblGrid>
              <a:tr h="496507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CAN bus transmits </a:t>
                      </a:r>
                      <a:r>
                        <a:rPr lang="en-US" b="1" dirty="0" smtClean="0"/>
                        <a:t>data in bytes (8 bits)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/>
                        <a:t>Packing:</a:t>
                      </a:r>
                      <a:r>
                        <a:rPr lang="en-US" dirty="0" smtClean="0"/>
                        <a:t> putting signal values into CAN bytes for transmission.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54921"/>
                  </a:ext>
                </a:extLst>
              </a:tr>
              <a:tr h="901574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Signals (like speed, gear) may be </a:t>
                      </a:r>
                      <a:r>
                        <a:rPr lang="en-US" b="1" dirty="0" smtClean="0"/>
                        <a:t>smaller than a byte</a:t>
                      </a:r>
                      <a:r>
                        <a:rPr lang="en-US" dirty="0" smtClean="0"/>
                        <a:t> or </a:t>
                      </a:r>
                      <a:r>
                        <a:rPr lang="en-US" b="1" dirty="0" smtClean="0"/>
                        <a:t>combined in one byte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/>
                        <a:t>Unpacking:</a:t>
                      </a:r>
                      <a:r>
                        <a:rPr lang="en-US" dirty="0" smtClean="0"/>
                        <a:t> extracting signal values from received CAN bytes.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100166"/>
                  </a:ext>
                </a:extLst>
              </a:tr>
            </a:tbl>
          </a:graphicData>
        </a:graphic>
      </p:graphicFrame>
      <p:sp>
        <p:nvSpPr>
          <p:cNvPr id="18" name="Content Placeholder 3"/>
          <p:cNvSpPr>
            <a:spLocks noGrp="1"/>
          </p:cNvSpPr>
          <p:nvPr>
            <p:ph sz="half" idx="2"/>
          </p:nvPr>
        </p:nvSpPr>
        <p:spPr>
          <a:xfrm>
            <a:off x="9535885" y="2127347"/>
            <a:ext cx="8464777" cy="8672416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0" indent="0" defTabSz="1209568">
              <a:buNone/>
            </a:pPr>
            <a:endParaRPr lang="en-IN" sz="8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defTabSz="1209568">
              <a:buNone/>
            </a:pPr>
            <a:r>
              <a:rPr lang="en-IN" sz="2381" b="1" dirty="0" smtClean="0"/>
              <a:t>          </a:t>
            </a:r>
            <a:endParaRPr lang="en-US" sz="2400" b="1" dirty="0" smtClean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" y="2112056"/>
            <a:ext cx="9505906" cy="868770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99800" y="2271839"/>
            <a:ext cx="42979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 smtClean="0">
                <a:solidFill>
                  <a:schemeClr val="accent6">
                    <a:lumMod val="50000"/>
                  </a:schemeClr>
                </a:solidFill>
              </a:rPr>
              <a:t>Packing (Sender Side)</a:t>
            </a: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762031" y="2856614"/>
            <a:ext cx="7162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37505" marR="0" lvl="0" indent="-337505" defTabSz="1350020" fontAlgn="base"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Convert signal to binary.</a:t>
            </a:r>
          </a:p>
          <a:p>
            <a:pPr marL="337505" marR="0" lvl="0" indent="-337505" defTabSz="1350020" fontAlgn="base"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Mask unwanted bits using </a:t>
            </a: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&amp;</a:t>
            </a:r>
            <a:r>
              <a:rPr lang="en-US" altLang="en-US" sz="1800" dirty="0">
                <a:latin typeface="Arial" panose="020B0604020202020204" pitchFamily="34" charset="0"/>
              </a:rPr>
              <a:t> (example: &amp; 0xFF for 1 byte).</a:t>
            </a:r>
          </a:p>
          <a:p>
            <a:pPr marL="337505" marR="0" lvl="0" indent="-337505" defTabSz="1350020" fontAlgn="base"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Shift bits to correct position using </a:t>
            </a: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&lt;&lt;</a:t>
            </a:r>
          </a:p>
          <a:p>
            <a:pPr marL="337505" marR="0" lvl="0" indent="-337505" defTabSz="1350020" fontAlgn="base"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Combine multiple signals in one byte using </a:t>
            </a: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|</a:t>
            </a:r>
          </a:p>
          <a:p>
            <a:pPr marL="337505" marR="0" lvl="0" indent="-337505" defTabSz="1350020" fontAlgn="base">
              <a:spcBef>
                <a:spcPts val="1476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Store final value in CAN data array, 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52281" y="5103383"/>
            <a:ext cx="8997950" cy="51955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solidFill>
                  <a:schemeClr val="accent6">
                    <a:lumMod val="50000"/>
                  </a:schemeClr>
                </a:solidFill>
              </a:rPr>
              <a:t>Unpacking (Receiver Side)</a:t>
            </a:r>
            <a:endParaRPr lang="en-US" sz="3200" b="1" dirty="0">
              <a:solidFill>
                <a:schemeClr val="accent6">
                  <a:lumMod val="50000"/>
                </a:schemeClr>
              </a:solidFill>
            </a:endParaRP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Performed on receiver side after CAN frame is received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Extract original signal values from CAN data bytes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Reverse operation of packing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Uses:</a:t>
            </a:r>
          </a:p>
          <a:p>
            <a:pPr marL="1495318" lvl="2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Bit shifting</a:t>
            </a:r>
          </a:p>
          <a:p>
            <a:pPr marL="1495318" lvl="2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Bit masking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Output signals are used for SOA services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Applications / debugging / </a:t>
            </a:r>
            <a:r>
              <a:rPr lang="en-US" sz="1800" dirty="0" smtClean="0">
                <a:latin typeface="Arial" panose="020B0604020202020204" pitchFamily="34" charset="0"/>
              </a:rPr>
              <a:t>logging</a:t>
            </a:r>
          </a:p>
          <a:p>
            <a:pPr lvl="1"/>
            <a:endParaRPr lang="en-US" sz="1800" dirty="0" smtClean="0">
              <a:latin typeface="Arial" panose="020B0604020202020204" pitchFamily="34" charset="0"/>
            </a:endParaRPr>
          </a:p>
          <a:p>
            <a:pPr lvl="1"/>
            <a:r>
              <a:rPr lang="en-US" b="1" dirty="0"/>
              <a:t>Unpacking Steps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Read CAN data bytes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Shift bits to original position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Mask required bits</a:t>
            </a:r>
          </a:p>
          <a:p>
            <a:pPr marL="890534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</a:rPr>
              <a:t>Combine bits to reconstruct signal</a:t>
            </a:r>
          </a:p>
          <a:p>
            <a:endParaRPr lang="en-US" sz="1800" b="1" dirty="0" smtClean="0">
              <a:latin typeface="Arial" panose="020B0604020202020204" pitchFamily="34" charset="0"/>
            </a:endParaRPr>
          </a:p>
          <a:p>
            <a:pPr lvl="1"/>
            <a:r>
              <a:rPr lang="en-US" b="1" dirty="0"/>
              <a:t>Practice Example :</a:t>
            </a:r>
            <a:endParaRPr lang="en-IN" b="1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/>
          <a:srcRect l="1" r="54040"/>
          <a:stretch/>
        </p:blipFill>
        <p:spPr>
          <a:xfrm>
            <a:off x="9736713" y="2155598"/>
            <a:ext cx="7703796" cy="8621486"/>
          </a:xfrm>
          <a:prstGeom prst="rect">
            <a:avLst/>
          </a:prstGeom>
        </p:spPr>
      </p:pic>
      <p:sp>
        <p:nvSpPr>
          <p:cNvPr id="30" name="Right Arrow 29"/>
          <p:cNvSpPr/>
          <p:nvPr/>
        </p:nvSpPr>
        <p:spPr>
          <a:xfrm>
            <a:off x="4607744" y="10135305"/>
            <a:ext cx="4542263" cy="571220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02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392</Words>
  <Application>Microsoft Office PowerPoint</Application>
  <PresentationFormat>Custom</PresentationFormat>
  <Paragraphs>72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Wingdings</vt:lpstr>
      <vt:lpstr>Office Theme</vt:lpstr>
      <vt:lpstr>CAN Signal Packing &amp; Unpacking</vt:lpstr>
      <vt:lpstr>CAN Signal Packing &amp; Unpacking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Signal Packing &amp; Unpacking</dc:title>
  <dc:creator>Admin</dc:creator>
  <cp:lastModifiedBy>Admin</cp:lastModifiedBy>
  <cp:revision>7</cp:revision>
  <dcterms:created xsi:type="dcterms:W3CDTF">2025-12-28T10:27:45Z</dcterms:created>
  <dcterms:modified xsi:type="dcterms:W3CDTF">2025-12-28T16:53:53Z</dcterms:modified>
</cp:coreProperties>
</file>